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762" r:id="rId2"/>
    <p:sldId id="782" r:id="rId3"/>
    <p:sldId id="763" r:id="rId4"/>
    <p:sldId id="759" r:id="rId5"/>
    <p:sldId id="780" r:id="rId6"/>
    <p:sldId id="783" r:id="rId7"/>
    <p:sldId id="781" r:id="rId8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/>
    <p:restoredTop sz="89041"/>
  </p:normalViewPr>
  <p:slideViewPr>
    <p:cSldViewPr snapToGrid="0" showGuides="1">
      <p:cViewPr varScale="1">
        <p:scale>
          <a:sx n="99" d="100"/>
          <a:sy n="99" d="100"/>
        </p:scale>
        <p:origin x="176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CC74D-E006-A740-A96F-E4001A1147C3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F1118-B440-424D-B73C-0DF0AE8ACF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6167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D843-7ED9-82B5-D800-24F8FEEF15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47D1F-096C-450F-F409-C1CE11F57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81E1E-FDC5-79D9-B317-E2BADDE5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1B39-1CEF-E60B-D18A-623D70BB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79EF3-F00B-3D4B-408E-7BEA4354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0391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7511E-A9D7-3E01-0ADC-A282877E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69D93-FBC3-A4AF-D49E-0A640D984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B2067-B219-E4D9-C50F-62AEB216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33BDF-CB4A-0CF7-799C-5041A9FD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16258-CCCC-FDE1-3BA0-C744588D6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4391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A5D9-1066-7AFD-113D-1EA2C11CD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7DB91-2641-08FD-1788-7FC4B21C5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AEA95-6C95-9159-34B4-8594CD289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62F1C-E9D4-C35C-6DC5-F1EA676F1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A8170-9BE7-42CD-AC01-A379964A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1184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5DC68-5B3A-28D8-608A-181E6B5C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46E35-5E61-DCA5-F417-FA446EEE4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F15B1-ADBD-458C-C032-89DE6BCBB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75D94-D754-1A6D-12D6-DEEF27B8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4A879-F909-2061-6E14-E7A4220A2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CBD60-B1C7-A831-3E61-1DA0744B0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3433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4AB4-75C9-515B-8BDC-ACD73C4F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9578C-2A0D-DAF4-181B-973D5DB53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D404F-ED4A-FD16-A4DC-8EA3E892A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BC649-B8CE-B941-854A-2B664C242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08C5E-C529-93EF-CAF5-8D4D4C8F2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21E180-6E13-2365-6A51-9377FB249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936ED-183C-A24B-9118-34D08E6C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18940C-80E8-245D-44C8-4C47F049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2729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959E-AFE7-AE41-8999-D47742C7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219EA-7277-1F01-9366-8B8483A3C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C2BF3-C86A-80CE-A8A0-25E949D0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03597-FF12-655C-FFEF-F38B3C22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6706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B6D95C-D3C3-5FB9-35B0-D0E22DE16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DE6AB5-218B-B21C-3582-4CB46F778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18414-90CF-8078-981D-59592901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9691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8EDA-8D35-9459-B3B5-37657914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3F32-06BA-8444-EA99-91BB85AB2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146EE-DE93-B719-91B0-A8B30A076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CC63A-0FF1-00ED-24E9-60FD41E3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91424-9DAF-9995-BA0E-9C903EF5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B4D49-CF2D-EC39-72CF-D1CE2696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309391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7582-5D5E-85CA-7508-1EF6C53AE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C71673-4FB1-1E96-0D22-4CDFD5B8C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D2632-0ABB-ADDF-C440-526570BC9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749D5-8FB1-FDA8-5DEA-A1281D9C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FC41A-B8FB-EEE9-3403-81BAAB428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B4B56-438D-71CF-34E7-896923F1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29962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AA244-85C8-9015-43BB-94BC4C93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DDFC3-0711-B8D2-23AA-2D1FDE7CBD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67C72-B508-A5D5-2538-DE3D5881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28E87-858C-F85F-D81F-E673A2C8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6AD45-F62E-AEDD-BF22-12EAF370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35151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BF6E0A-1BF5-7E49-45C3-E8E84F46C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95602-7235-42F0-7C53-FDF26E771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BAFE7-5BEE-96EC-0C86-5D660110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4B209-4A1C-309E-8056-7435D98F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6B447-A939-B8ED-93EC-3C92B441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54844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55424C23-0860-BB4A-A162-409D182EF45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870029"/>
          </a:xfrm>
          <a:prstGeom prst="rect">
            <a:avLst/>
          </a:prstGeom>
          <a:solidFill>
            <a:srgbClr val="303078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ja-JP" altLang="en-US" sz="1800" b="0" i="0">
              <a:latin typeface="Yu Gothic UI" panose="020B0500000000000000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3"/>
            <a:ext cx="10515600" cy="641427"/>
          </a:xfrm>
        </p:spPr>
        <p:txBody>
          <a:bodyPr>
            <a:normAutofit/>
          </a:bodyPr>
          <a:lstStyle>
            <a:lvl1pPr algn="ctr">
              <a:defRPr sz="3200" b="0" i="0">
                <a:ln>
                  <a:noFill/>
                </a:ln>
                <a:solidFill>
                  <a:srgbClr val="FFC000"/>
                </a:solidFill>
                <a:effectLst/>
                <a:latin typeface="Yu Gothic UI" panose="020B0500000000000000" pitchFamily="34" charset="-128"/>
                <a:ea typeface="Meiryo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5023"/>
            <a:ext cx="10515600" cy="5081941"/>
          </a:xfrm>
        </p:spPr>
        <p:txBody>
          <a:bodyPr/>
          <a:lstStyle>
            <a:lvl1pPr>
              <a:defRPr b="0" i="0">
                <a:latin typeface="Yu Gothic UI" panose="020B0500000000000000" pitchFamily="34" charset="-128"/>
                <a:ea typeface="Meiryo" panose="020B0604030504040204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
第 </a:t>
            </a:r>
            <a:r>
              <a:rPr lang="en-US" altLang="ja-JP" dirty="0"/>
              <a:t>2 </a:t>
            </a:r>
            <a:r>
              <a:rPr lang="ja-JP" altLang="en-US"/>
              <a:t>レベル
第 </a:t>
            </a:r>
            <a:r>
              <a:rPr lang="en-US" altLang="ja-JP" dirty="0"/>
              <a:t>3 </a:t>
            </a:r>
            <a:r>
              <a:rPr lang="ja-JP" altLang="en-US"/>
              <a:t>レベル
第 </a:t>
            </a:r>
            <a:r>
              <a:rPr lang="en-US" altLang="ja-JP" dirty="0"/>
              <a:t>4 </a:t>
            </a:r>
            <a:r>
              <a:rPr lang="ja-JP" altLang="en-US"/>
              <a:t>レベル
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72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701ED-0D85-F72A-68AE-ED38D6F85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ABE94-7A61-1A6D-BE2E-4139AFC0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7E087-1E9A-B9E7-E34C-610BC11D9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588F6-5B3F-A043-87EF-78C3EF414B77}" type="datetimeFigureOut">
              <a:rPr lang="en-JP" smtClean="0"/>
              <a:t>2026/05/27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81271-307C-0ABF-E067-44B9998C8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079B4-55F9-6D2C-B375-C06E26CF8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B1CEF-BE55-4A43-8514-1DE671B91671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43493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C4F76-F42D-9C4D-D4AF-BC8D552A8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56403"/>
            <a:ext cx="11658600" cy="827571"/>
          </a:xfrm>
        </p:spPr>
        <p:txBody>
          <a:bodyPr>
            <a:normAutofit/>
          </a:bodyPr>
          <a:lstStyle/>
          <a:p>
            <a:r>
              <a:rPr lang="en-JP" sz="4400" dirty="0"/>
              <a:t>“鋸歯状”Pit patternを整理する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557A8-4FE3-DAEE-26FD-C4643156B0EA}"/>
              </a:ext>
            </a:extLst>
          </p:cNvPr>
          <p:cNvSpPr txBox="1"/>
          <p:nvPr/>
        </p:nvSpPr>
        <p:spPr>
          <a:xfrm>
            <a:off x="1368701" y="6211669"/>
            <a:ext cx="9454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Tanaka S, Oka S, Hirata M </a:t>
            </a:r>
            <a:r>
              <a:rPr lang="en-US" i="1" dirty="0"/>
              <a:t>et al.</a:t>
            </a:r>
            <a:r>
              <a:rPr lang="en-US" dirty="0"/>
              <a:t> Pit pattern diagnosis for colorectal neoplasia using narrow band imaging magnification. </a:t>
            </a:r>
            <a:r>
              <a:rPr lang="en-US" i="1" dirty="0"/>
              <a:t>Dig. </a:t>
            </a:r>
            <a:r>
              <a:rPr lang="en-US" i="1" dirty="0" err="1"/>
              <a:t>Endosc</a:t>
            </a:r>
            <a:r>
              <a:rPr lang="en-US" i="1" dirty="0"/>
              <a:t>.</a:t>
            </a:r>
            <a:r>
              <a:rPr lang="en-US" dirty="0"/>
              <a:t> 2006; </a:t>
            </a:r>
            <a:r>
              <a:rPr lang="en-US" b="1" dirty="0"/>
              <a:t>18</a:t>
            </a:r>
            <a:r>
              <a:rPr lang="en-US" dirty="0"/>
              <a:t>: S52–S56.</a:t>
            </a:r>
            <a:endParaRPr lang="en-US" b="1" i="0" dirty="0">
              <a:solidFill>
                <a:srgbClr val="1C1D1E"/>
              </a:solidFill>
              <a:effectLst/>
              <a:highlight>
                <a:srgbClr val="FFFFFF"/>
              </a:highlight>
              <a:latin typeface="Open Sans" panose="020B0606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6D8BA5-CB71-2AA3-6D1C-85870A2202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26" y="1339913"/>
            <a:ext cx="5138595" cy="43756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31322-744B-BEF1-F200-8803F32BA9F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50780" y="1339913"/>
            <a:ext cx="5064484" cy="3277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8D5087-3F2D-8148-6D36-326FB5C386E7}"/>
              </a:ext>
            </a:extLst>
          </p:cNvPr>
          <p:cNvSpPr txBox="1"/>
          <p:nvPr/>
        </p:nvSpPr>
        <p:spPr>
          <a:xfrm>
            <a:off x="6923329" y="5113347"/>
            <a:ext cx="4491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 dirty="0"/>
              <a:t>オリジナル分類では type II のみ</a:t>
            </a:r>
          </a:p>
        </p:txBody>
      </p:sp>
    </p:spTree>
    <p:extLst>
      <p:ext uri="{BB962C8B-B14F-4D97-AF65-F5344CB8AC3E}">
        <p14:creationId xmlns:p14="http://schemas.microsoft.com/office/powerpoint/2010/main" val="217455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DAFE3A-3F75-F375-0616-199E53AB7CE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1287712"/>
            <a:ext cx="2843223" cy="2448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0192FD-27FA-5885-D7DA-020E6963696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040" y="1292616"/>
            <a:ext cx="2846360" cy="24480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FA1FBD-521A-B54F-294D-EA61A8709166}"/>
              </a:ext>
            </a:extLst>
          </p:cNvPr>
          <p:cNvSpPr txBox="1"/>
          <p:nvPr/>
        </p:nvSpPr>
        <p:spPr>
          <a:xfrm>
            <a:off x="2121694" y="6211669"/>
            <a:ext cx="10470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1200" dirty="0"/>
              <a:t>浦岡 等. 大腸鋸歯状病変の内視鏡診断. </a:t>
            </a:r>
            <a:r>
              <a:rPr lang="ja-JP" altLang="en-US" sz="1200"/>
              <a:t>胃と腸 </a:t>
            </a:r>
            <a:r>
              <a:rPr lang="en-US" altLang="ja-JP" sz="1200" dirty="0"/>
              <a:t>46(4):406-416; 2011</a:t>
            </a:r>
          </a:p>
          <a:p>
            <a:r>
              <a:rPr lang="en-US" sz="1200" dirty="0"/>
              <a:t>Sano Y, Saito Y, Fu K </a:t>
            </a:r>
            <a:r>
              <a:rPr lang="en-US" sz="1200" i="1" dirty="0"/>
              <a:t>et al.</a:t>
            </a:r>
            <a:r>
              <a:rPr lang="en-US" sz="1200" dirty="0"/>
              <a:t> Efficacy of magnifying chromoendoscopy for the differential diagnosis of colorectal lesions. </a:t>
            </a:r>
            <a:r>
              <a:rPr lang="en-US" sz="1200" i="1" dirty="0"/>
              <a:t>Dig. </a:t>
            </a:r>
            <a:r>
              <a:rPr lang="en-US" sz="1200" i="1" dirty="0" err="1"/>
              <a:t>Endosc</a:t>
            </a:r>
            <a:r>
              <a:rPr lang="en-US" sz="1200" i="1" dirty="0"/>
              <a:t>.</a:t>
            </a:r>
            <a:r>
              <a:rPr lang="en-US" sz="1200" dirty="0"/>
              <a:t> 2005; </a:t>
            </a:r>
            <a:r>
              <a:rPr lang="en-US" sz="1200" b="1" dirty="0"/>
              <a:t>17</a:t>
            </a:r>
            <a:r>
              <a:rPr lang="en-US" sz="1200" dirty="0"/>
              <a:t>: 105–116.</a:t>
            </a:r>
          </a:p>
          <a:p>
            <a:r>
              <a:rPr lang="en-JP" sz="1200" dirty="0"/>
              <a:t>藤井 等. 大腸拡大内視鏡診断はどこまで病理診断に近づいたか </a:t>
            </a:r>
            <a:r>
              <a:rPr lang="ja-JP" altLang="en-US" sz="1200"/>
              <a:t>胃と腸 </a:t>
            </a:r>
            <a:r>
              <a:rPr lang="en-US" altLang="ja-JP" sz="1200" dirty="0"/>
              <a:t>34:1653-1664; 1999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629479-FB77-BCA1-0013-20E191A0971B}"/>
              </a:ext>
            </a:extLst>
          </p:cNvPr>
          <p:cNvSpPr txBox="1"/>
          <p:nvPr/>
        </p:nvSpPr>
        <p:spPr>
          <a:xfrm>
            <a:off x="8753885" y="813979"/>
            <a:ext cx="898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 dirty="0"/>
              <a:t>IV</a:t>
            </a:r>
            <a:r>
              <a:rPr lang="en-JP" sz="2400" baseline="-25000" dirty="0"/>
              <a:t>H</a:t>
            </a:r>
            <a:r>
              <a:rPr lang="en-JP" sz="2400" dirty="0"/>
              <a:t>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4191BA-9E0D-04B9-E2E8-A68120918444}"/>
              </a:ext>
            </a:extLst>
          </p:cNvPr>
          <p:cNvSpPr txBox="1"/>
          <p:nvPr/>
        </p:nvSpPr>
        <p:spPr>
          <a:xfrm>
            <a:off x="2621756" y="811779"/>
            <a:ext cx="878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400" dirty="0"/>
              <a:t>III</a:t>
            </a:r>
            <a:r>
              <a:rPr lang="en-JP" sz="2400" baseline="-25000" dirty="0"/>
              <a:t>H</a:t>
            </a:r>
            <a:r>
              <a:rPr lang="en-JP" sz="2400" dirty="0"/>
              <a:t>型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948D65-2376-A295-C25B-FC339D808617}"/>
              </a:ext>
            </a:extLst>
          </p:cNvPr>
          <p:cNvSpPr txBox="1">
            <a:spLocks/>
          </p:cNvSpPr>
          <p:nvPr/>
        </p:nvSpPr>
        <p:spPr>
          <a:xfrm>
            <a:off x="266700" y="153366"/>
            <a:ext cx="11658600" cy="8275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JP" dirty="0"/>
              <a:t>鋸歯状Pitの亜分類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51E324-A0DF-7DB9-4F6A-785AA02AF72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9923" y="1315540"/>
            <a:ext cx="2820039" cy="2420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CA01E20-7373-5346-4D8E-2BAB018F0A6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5403" y="1264787"/>
            <a:ext cx="2709896" cy="24709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7E0A1B5-301A-9FBB-A208-807698DD212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62040" y="3768508"/>
            <a:ext cx="3140634" cy="243825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0D42CD-818A-099F-3C8A-A48784B6B7DC}"/>
              </a:ext>
            </a:extLst>
          </p:cNvPr>
          <p:cNvSpPr txBox="1"/>
          <p:nvPr/>
        </p:nvSpPr>
        <p:spPr>
          <a:xfrm>
            <a:off x="503097" y="4608552"/>
            <a:ext cx="1366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JP" sz="1800" dirty="0"/>
              <a:t>シダの葉様</a:t>
            </a:r>
          </a:p>
          <a:p>
            <a:pPr algn="ctr"/>
            <a:r>
              <a:rPr lang="en-JP" dirty="0"/>
              <a:t>(Fern-like)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BBE145-E6FD-1BB2-CB73-2A515172B9D2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10299" y="3817215"/>
            <a:ext cx="3369821" cy="22290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68FBB7-3382-1B14-5C54-09A9E73861E6}"/>
              </a:ext>
            </a:extLst>
          </p:cNvPr>
          <p:cNvSpPr txBox="1"/>
          <p:nvPr/>
        </p:nvSpPr>
        <p:spPr>
          <a:xfrm>
            <a:off x="9981701" y="4562385"/>
            <a:ext cx="1366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JP" sz="1800" dirty="0"/>
              <a:t>松毬様pit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264733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389BC9-6AA1-4150-7ED6-61E3D56965E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80937"/>
            <a:ext cx="7280476" cy="44542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1B397E-EAF2-34F8-098D-A4DB83093A23}"/>
              </a:ext>
            </a:extLst>
          </p:cNvPr>
          <p:cNvSpPr txBox="1"/>
          <p:nvPr/>
        </p:nvSpPr>
        <p:spPr>
          <a:xfrm>
            <a:off x="476150" y="5657671"/>
            <a:ext cx="63281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Aoki H </a:t>
            </a:r>
            <a:r>
              <a:rPr lang="en-US" i="1" dirty="0"/>
              <a:t>et al.</a:t>
            </a:r>
            <a:r>
              <a:rPr lang="en-US" dirty="0"/>
              <a:t> Subtypes of the Type II Pit Pattern Reflect Distinct Molecular Subclasses in the Serrated Neoplastic Pathway. </a:t>
            </a:r>
            <a:r>
              <a:rPr lang="en-US" i="1" dirty="0"/>
              <a:t>Dig. Dis. Sci.</a:t>
            </a:r>
            <a:r>
              <a:rPr lang="en-US" dirty="0"/>
              <a:t> 2018; </a:t>
            </a:r>
            <a:r>
              <a:rPr lang="en-US" b="1" dirty="0"/>
              <a:t>63</a:t>
            </a:r>
            <a:r>
              <a:rPr lang="en-US" dirty="0"/>
              <a:t>: 1920–1928.</a:t>
            </a:r>
            <a:endParaRPr lang="en-JP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3BC2CD-8BBB-E1B9-4815-7F6731D6562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2594" y="1185396"/>
            <a:ext cx="5029406" cy="22493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A061DF-2562-F9E6-5836-904DFCBF24BF}"/>
              </a:ext>
            </a:extLst>
          </p:cNvPr>
          <p:cNvSpPr txBox="1"/>
          <p:nvPr/>
        </p:nvSpPr>
        <p:spPr>
          <a:xfrm>
            <a:off x="7974957" y="3533188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鋸IV</a:t>
            </a:r>
            <a:r>
              <a:rPr lang="en-JP" baseline="-25000" dirty="0"/>
              <a:t>B</a:t>
            </a:r>
            <a:r>
              <a:rPr lang="en-JP" dirty="0"/>
              <a:t>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5953F-DB10-FDC4-24E1-B7AFF8250064}"/>
              </a:ext>
            </a:extLst>
          </p:cNvPr>
          <p:cNvSpPr txBox="1"/>
          <p:nvPr/>
        </p:nvSpPr>
        <p:spPr>
          <a:xfrm>
            <a:off x="10389454" y="3533188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鋸IV</a:t>
            </a:r>
            <a:r>
              <a:rPr lang="en-JP" baseline="-25000" dirty="0"/>
              <a:t>V</a:t>
            </a:r>
            <a:r>
              <a:rPr lang="en-JP" dirty="0"/>
              <a:t>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D045F0-A5C0-36D5-E5D5-B4B31E8B1A7B}"/>
              </a:ext>
            </a:extLst>
          </p:cNvPr>
          <p:cNvSpPr txBox="1"/>
          <p:nvPr/>
        </p:nvSpPr>
        <p:spPr>
          <a:xfrm>
            <a:off x="7280476" y="5877063"/>
            <a:ext cx="4548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松下 等. 鋸歯状病変の内視鏡診断. </a:t>
            </a:r>
            <a:r>
              <a:rPr lang="ja-JP" altLang="en-US"/>
              <a:t>胃と腸 </a:t>
            </a:r>
            <a:r>
              <a:rPr lang="en-US" altLang="ja-JP" dirty="0"/>
              <a:t>55(5):684-700, 2020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7EB8307-33AA-6C4E-B70B-DBCB941EC80B}"/>
              </a:ext>
            </a:extLst>
          </p:cNvPr>
          <p:cNvSpPr txBox="1">
            <a:spLocks/>
          </p:cNvSpPr>
          <p:nvPr/>
        </p:nvSpPr>
        <p:spPr>
          <a:xfrm>
            <a:off x="266700" y="153366"/>
            <a:ext cx="11658600" cy="8275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JP" dirty="0"/>
              <a:t>鋸歯状Pitの亜分類</a:t>
            </a:r>
          </a:p>
        </p:txBody>
      </p:sp>
    </p:spTree>
    <p:extLst>
      <p:ext uri="{BB962C8B-B14F-4D97-AF65-F5344CB8AC3E}">
        <p14:creationId xmlns:p14="http://schemas.microsoft.com/office/powerpoint/2010/main" val="177369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71F4FF-9A20-64A4-89A2-365715559FE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5525"/>
            <a:ext cx="5384800" cy="1841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12F181-5491-B91C-2544-28B381448B03}"/>
              </a:ext>
            </a:extLst>
          </p:cNvPr>
          <p:cNvSpPr txBox="1"/>
          <p:nvPr/>
        </p:nvSpPr>
        <p:spPr>
          <a:xfrm>
            <a:off x="117227" y="6091885"/>
            <a:ext cx="119575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Yamaguchi M, Yoshimoto E, Kondo S. Pattern regulation in the stripe of zebrafish suggests an underlying dynamic and autonomous mechanism. </a:t>
            </a:r>
            <a:r>
              <a:rPr lang="en-US" sz="1200" i="1" dirty="0"/>
              <a:t>Proc. Natl. Acad. Sci. U. S. A.</a:t>
            </a:r>
            <a:r>
              <a:rPr lang="en-US" sz="1200" dirty="0"/>
              <a:t> 2007; </a:t>
            </a:r>
            <a:r>
              <a:rPr lang="en-US" sz="1200" b="1" dirty="0"/>
              <a:t>104</a:t>
            </a:r>
            <a:r>
              <a:rPr lang="en-US" sz="1200" dirty="0"/>
              <a:t>: 4790–4793.</a:t>
            </a:r>
            <a:br>
              <a:rPr lang="en-US" sz="1200" dirty="0"/>
            </a:br>
            <a:r>
              <a:rPr lang="en-US" sz="1200" dirty="0"/>
              <a:t>Kondo S, Miura T. Reaction-diffusion model as a framework for understanding biological pattern formation. </a:t>
            </a:r>
            <a:r>
              <a:rPr lang="en-US" sz="1200" i="1" dirty="0"/>
              <a:t>Science</a:t>
            </a:r>
            <a:r>
              <a:rPr lang="en-US" sz="1200" dirty="0"/>
              <a:t> 2010; </a:t>
            </a:r>
            <a:r>
              <a:rPr lang="en-US" sz="1200" b="1" dirty="0"/>
              <a:t>329</a:t>
            </a:r>
            <a:r>
              <a:rPr lang="en-US" sz="1200" dirty="0"/>
              <a:t>: 1616–1620.</a:t>
            </a:r>
            <a:endParaRPr lang="en-JP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DE0F7D-07FD-0AE3-E956-5B98380654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681" y="1970288"/>
            <a:ext cx="5213077" cy="40719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F7C769-E38C-45C3-C14D-908423F750F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5974" y="1299304"/>
            <a:ext cx="5784057" cy="25706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4F20F8-9CAC-ACB0-4D82-12C633AD064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64993" y="4077661"/>
            <a:ext cx="6409779" cy="174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9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4C9A82-E92D-447F-01FA-DEC22F24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801" y="4609537"/>
            <a:ext cx="5531376" cy="22557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83085FC-D4DC-58B1-CA19-879E31C9A51D}"/>
              </a:ext>
            </a:extLst>
          </p:cNvPr>
          <p:cNvGrpSpPr/>
          <p:nvPr/>
        </p:nvGrpSpPr>
        <p:grpSpPr>
          <a:xfrm>
            <a:off x="4617180" y="1673438"/>
            <a:ext cx="7214779" cy="2441131"/>
            <a:chOff x="1853582" y="1394558"/>
            <a:chExt cx="7965677" cy="269519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B1B6519-48DA-8800-6916-E7D128CA0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46859" y="1991925"/>
              <a:ext cx="7772400" cy="209783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A434E4F-32D6-4D67-B652-AEEF7929BAE7}"/>
                </a:ext>
              </a:extLst>
            </p:cNvPr>
            <p:cNvSpPr txBox="1"/>
            <p:nvPr/>
          </p:nvSpPr>
          <p:spPr>
            <a:xfrm>
              <a:off x="1853582" y="1394558"/>
              <a:ext cx="17059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dirty="0"/>
                <a:t>Aが生成される</a:t>
              </a:r>
            </a:p>
            <a:p>
              <a:pPr algn="ctr"/>
              <a:r>
                <a:rPr lang="en-JP" dirty="0"/>
                <a:t>“feed”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0AC24C-75A2-201B-830E-2462BD644022}"/>
                </a:ext>
              </a:extLst>
            </p:cNvPr>
            <p:cNvSpPr txBox="1"/>
            <p:nvPr/>
          </p:nvSpPr>
          <p:spPr>
            <a:xfrm>
              <a:off x="8266381" y="1394558"/>
              <a:ext cx="14782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dirty="0"/>
                <a:t>Bが消失する</a:t>
              </a:r>
            </a:p>
            <a:p>
              <a:pPr algn="ctr"/>
              <a:r>
                <a:rPr lang="en-JP" dirty="0"/>
                <a:t>“kill”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F2ABDA-F01C-84BE-0219-EAF9D706527B}"/>
                </a:ext>
              </a:extLst>
            </p:cNvPr>
            <p:cNvSpPr txBox="1"/>
            <p:nvPr/>
          </p:nvSpPr>
          <p:spPr>
            <a:xfrm>
              <a:off x="4798168" y="1865952"/>
              <a:ext cx="243047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JP" dirty="0"/>
                <a:t>Aは2つのBと反応して</a:t>
              </a:r>
            </a:p>
            <a:p>
              <a:pPr algn="ctr"/>
              <a:r>
                <a:rPr lang="en-JP" dirty="0"/>
                <a:t>Bに変化する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4D05013-48C7-D975-464D-8440F9AC7A9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11" y="2280895"/>
            <a:ext cx="3761930" cy="18461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5B5F7F6-E191-D857-5BEB-CD814F52FEB5}"/>
              </a:ext>
            </a:extLst>
          </p:cNvPr>
          <p:cNvSpPr txBox="1"/>
          <p:nvPr/>
        </p:nvSpPr>
        <p:spPr>
          <a:xfrm>
            <a:off x="521411" y="1853495"/>
            <a:ext cx="2768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JP" dirty="0"/>
              <a:t>AとBはそれぞれ拡散する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AC55265-0CE3-01DB-21F3-6D004DFC88F0}"/>
              </a:ext>
            </a:extLst>
          </p:cNvPr>
          <p:cNvSpPr/>
          <p:nvPr/>
        </p:nvSpPr>
        <p:spPr>
          <a:xfrm>
            <a:off x="180254" y="1630594"/>
            <a:ext cx="3778713" cy="25554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468801B-04E6-7F27-3B0A-5FAA2E7E27B0}"/>
              </a:ext>
            </a:extLst>
          </p:cNvPr>
          <p:cNvSpPr/>
          <p:nvPr/>
        </p:nvSpPr>
        <p:spPr>
          <a:xfrm>
            <a:off x="4403922" y="1500568"/>
            <a:ext cx="7658225" cy="27371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E98D2F-91DC-FBDE-FB0E-CCEE49B3DF6C}"/>
              </a:ext>
            </a:extLst>
          </p:cNvPr>
          <p:cNvSpPr txBox="1"/>
          <p:nvPr/>
        </p:nvSpPr>
        <p:spPr>
          <a:xfrm>
            <a:off x="248281" y="144800"/>
            <a:ext cx="4671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200" dirty="0"/>
              <a:t>Reaction-diffusion model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3FCAFC9-FB96-E3E5-CEAF-785D1AA92041}"/>
              </a:ext>
            </a:extLst>
          </p:cNvPr>
          <p:cNvGrpSpPr/>
          <p:nvPr/>
        </p:nvGrpSpPr>
        <p:grpSpPr>
          <a:xfrm>
            <a:off x="4388154" y="4351759"/>
            <a:ext cx="1295905" cy="2223754"/>
            <a:chOff x="4402442" y="4083557"/>
            <a:chExt cx="1295905" cy="22237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AAD84B-A834-A3EC-39F2-B23497B49C87}"/>
                </a:ext>
              </a:extLst>
            </p:cNvPr>
            <p:cNvSpPr/>
            <p:nvPr/>
          </p:nvSpPr>
          <p:spPr>
            <a:xfrm>
              <a:off x="4402442" y="4502733"/>
              <a:ext cx="1295905" cy="18045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EBB85B-3435-42DE-96DA-3C756D135AA5}"/>
                </a:ext>
              </a:extLst>
            </p:cNvPr>
            <p:cNvSpPr txBox="1"/>
            <p:nvPr/>
          </p:nvSpPr>
          <p:spPr>
            <a:xfrm>
              <a:off x="4735866" y="408355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拡散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B91B786-A696-1236-578E-6C0EC893CAC5}"/>
              </a:ext>
            </a:extLst>
          </p:cNvPr>
          <p:cNvGrpSpPr/>
          <p:nvPr/>
        </p:nvGrpSpPr>
        <p:grpSpPr>
          <a:xfrm>
            <a:off x="5684059" y="4351759"/>
            <a:ext cx="979755" cy="2223754"/>
            <a:chOff x="5698347" y="4083557"/>
            <a:chExt cx="979755" cy="222375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A560E25-9D06-AA7F-9659-F44E2AF72692}"/>
                </a:ext>
              </a:extLst>
            </p:cNvPr>
            <p:cNvSpPr/>
            <p:nvPr/>
          </p:nvSpPr>
          <p:spPr>
            <a:xfrm>
              <a:off x="5698347" y="4502733"/>
              <a:ext cx="979755" cy="180457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B84DF4D-D4C2-4068-99BC-D89618181D09}"/>
                </a:ext>
              </a:extLst>
            </p:cNvPr>
            <p:cNvSpPr txBox="1"/>
            <p:nvPr/>
          </p:nvSpPr>
          <p:spPr>
            <a:xfrm>
              <a:off x="5860551" y="4083557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反応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709659-D858-7889-A0C2-AFB96AFE3809}"/>
              </a:ext>
            </a:extLst>
          </p:cNvPr>
          <p:cNvGrpSpPr/>
          <p:nvPr/>
        </p:nvGrpSpPr>
        <p:grpSpPr>
          <a:xfrm>
            <a:off x="6663814" y="4478968"/>
            <a:ext cx="1721056" cy="997075"/>
            <a:chOff x="6678102" y="4210766"/>
            <a:chExt cx="1721056" cy="9970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713D46A-8AA0-DA15-749C-4E70B6E79142}"/>
                </a:ext>
              </a:extLst>
            </p:cNvPr>
            <p:cNvSpPr/>
            <p:nvPr/>
          </p:nvSpPr>
          <p:spPr>
            <a:xfrm>
              <a:off x="6678102" y="4629942"/>
              <a:ext cx="1721056" cy="5778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840BAF7-1D40-6A73-C605-74BAE58F2643}"/>
                </a:ext>
              </a:extLst>
            </p:cNvPr>
            <p:cNvSpPr txBox="1"/>
            <p:nvPr/>
          </p:nvSpPr>
          <p:spPr>
            <a:xfrm>
              <a:off x="7327676" y="421076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生成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C60C5F-C1D3-0532-C4DB-D1ACB6A9EF2F}"/>
              </a:ext>
            </a:extLst>
          </p:cNvPr>
          <p:cNvGrpSpPr/>
          <p:nvPr/>
        </p:nvGrpSpPr>
        <p:grpSpPr>
          <a:xfrm>
            <a:off x="6663814" y="5563557"/>
            <a:ext cx="1721056" cy="947231"/>
            <a:chOff x="6678102" y="5295355"/>
            <a:chExt cx="1721056" cy="9472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C7973B7-4FBC-2FE2-1ADC-3C49F7EEC711}"/>
                </a:ext>
              </a:extLst>
            </p:cNvPr>
            <p:cNvSpPr/>
            <p:nvPr/>
          </p:nvSpPr>
          <p:spPr>
            <a:xfrm>
              <a:off x="6678102" y="5664687"/>
              <a:ext cx="1721056" cy="5778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A2A980-BDC8-A180-11C3-7298E16A6747}"/>
                </a:ext>
              </a:extLst>
            </p:cNvPr>
            <p:cNvSpPr txBox="1"/>
            <p:nvPr/>
          </p:nvSpPr>
          <p:spPr>
            <a:xfrm>
              <a:off x="7327675" y="529535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JP" dirty="0"/>
                <a:t>消失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C8A10FA1-B689-81D2-980B-1210A76E1743}"/>
              </a:ext>
            </a:extLst>
          </p:cNvPr>
          <p:cNvSpPr txBox="1"/>
          <p:nvPr/>
        </p:nvSpPr>
        <p:spPr>
          <a:xfrm>
            <a:off x="435769" y="857250"/>
            <a:ext cx="10116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2000" dirty="0"/>
              <a:t>2つの分子AとBの生成、拡散、反応、消失で生物学的パターンの形成を説明するモデル</a:t>
            </a:r>
          </a:p>
        </p:txBody>
      </p:sp>
    </p:spTree>
    <p:extLst>
      <p:ext uri="{BB962C8B-B14F-4D97-AF65-F5344CB8AC3E}">
        <p14:creationId xmlns:p14="http://schemas.microsoft.com/office/powerpoint/2010/main" val="391406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BE6A6-932F-BD1E-688D-A9975055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5542598"/>
            <a:ext cx="10515600" cy="1325563"/>
          </a:xfrm>
        </p:spPr>
        <p:txBody>
          <a:bodyPr/>
          <a:lstStyle/>
          <a:p>
            <a:pPr algn="ctr"/>
            <a:r>
              <a:rPr lang="en-JP" dirty="0"/>
              <a:t>I型 → III</a:t>
            </a:r>
            <a:r>
              <a:rPr lang="en-JP" baseline="-25000" dirty="0"/>
              <a:t>L</a:t>
            </a:r>
            <a:r>
              <a:rPr lang="en-JP" dirty="0"/>
              <a:t>型 → IV</a:t>
            </a:r>
            <a:r>
              <a:rPr lang="en-JP" baseline="-25000" dirty="0"/>
              <a:t>B</a:t>
            </a:r>
            <a:r>
              <a:rPr lang="en-JP" dirty="0"/>
              <a:t>型 → IV</a:t>
            </a:r>
            <a:r>
              <a:rPr lang="en-JP" baseline="-25000" dirty="0"/>
              <a:t>V</a:t>
            </a:r>
            <a:r>
              <a:rPr lang="en-JP" dirty="0"/>
              <a:t>型 の変化は</a:t>
            </a:r>
            <a:br>
              <a:rPr lang="en-JP" dirty="0"/>
            </a:br>
            <a:r>
              <a:rPr lang="en-JP" dirty="0"/>
              <a:t>連続的に表現できる</a:t>
            </a:r>
          </a:p>
        </p:txBody>
      </p:sp>
      <p:pic>
        <p:nvPicPr>
          <p:cNvPr id="4" name="Picture 3" descr="A red and blue background&#10;&#10;AI-generated content may be incorrect.">
            <a:extLst>
              <a:ext uri="{FF2B5EF4-FFF2-40B4-BE49-F238E27FC236}">
                <a16:creationId xmlns:a16="http://schemas.microsoft.com/office/drawing/2014/main" id="{53397B10-2DCA-0813-2A62-6F86D07810B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349632" y="833755"/>
            <a:ext cx="9492735" cy="47088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DC97ED-508F-C6EA-65FB-BA5CFF30B448}"/>
              </a:ext>
            </a:extLst>
          </p:cNvPr>
          <p:cNvSpPr txBox="1"/>
          <p:nvPr/>
        </p:nvSpPr>
        <p:spPr>
          <a:xfrm>
            <a:off x="1349632" y="123249"/>
            <a:ext cx="12830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3200" dirty="0"/>
              <a:t>Type 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33E928-25A6-301E-75CE-D707F4464EC6}"/>
              </a:ext>
            </a:extLst>
          </p:cNvPr>
          <p:cNvSpPr txBox="1"/>
          <p:nvPr/>
        </p:nvSpPr>
        <p:spPr>
          <a:xfrm>
            <a:off x="3833752" y="123248"/>
            <a:ext cx="1858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3200" dirty="0"/>
              <a:t>Type III</a:t>
            </a:r>
            <a:r>
              <a:rPr lang="en-JP" sz="3200" baseline="-25000" dirty="0"/>
              <a:t>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A0589-1DBF-9927-437A-986352AEAFF0}"/>
              </a:ext>
            </a:extLst>
          </p:cNvPr>
          <p:cNvSpPr txBox="1"/>
          <p:nvPr/>
        </p:nvSpPr>
        <p:spPr>
          <a:xfrm>
            <a:off x="6592192" y="123247"/>
            <a:ext cx="1858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3200" dirty="0"/>
              <a:t>Type IV</a:t>
            </a:r>
            <a:r>
              <a:rPr lang="en-JP" sz="3200" baseline="-25000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B440B-31E0-A27B-37A3-905B941F0D64}"/>
              </a:ext>
            </a:extLst>
          </p:cNvPr>
          <p:cNvSpPr txBox="1"/>
          <p:nvPr/>
        </p:nvSpPr>
        <p:spPr>
          <a:xfrm>
            <a:off x="9033509" y="123246"/>
            <a:ext cx="18583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JP" sz="3200" dirty="0"/>
              <a:t>Type IV</a:t>
            </a:r>
            <a:r>
              <a:rPr lang="en-JP" sz="3200" baseline="-25000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3011261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2F0E7710-5CAA-E4DE-46C8-D1ED333516F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338" y="1143112"/>
            <a:ext cx="11464443" cy="23669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BD8BDD-4A63-1C89-4D24-3124F779E4E2}"/>
              </a:ext>
            </a:extLst>
          </p:cNvPr>
          <p:cNvSpPr txBox="1"/>
          <p:nvPr/>
        </p:nvSpPr>
        <p:spPr>
          <a:xfrm>
            <a:off x="4259960" y="845687"/>
            <a:ext cx="944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Type III</a:t>
            </a:r>
            <a:r>
              <a:rPr lang="en-JP" baseline="-25000" dirty="0"/>
              <a:t>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301509-5197-A57A-AE41-5817888ACD4E}"/>
              </a:ext>
            </a:extLst>
          </p:cNvPr>
          <p:cNvSpPr txBox="1"/>
          <p:nvPr/>
        </p:nvSpPr>
        <p:spPr>
          <a:xfrm>
            <a:off x="1487833" y="845687"/>
            <a:ext cx="748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Type 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D6AA91-1626-41FF-F974-69AE32F41FEE}"/>
              </a:ext>
            </a:extLst>
          </p:cNvPr>
          <p:cNvSpPr txBox="1"/>
          <p:nvPr/>
        </p:nvSpPr>
        <p:spPr>
          <a:xfrm>
            <a:off x="7227653" y="845687"/>
            <a:ext cx="976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Type IV</a:t>
            </a:r>
            <a:r>
              <a:rPr lang="en-JP" baseline="-25000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85B3A-A09F-3E85-C439-F0281427B46B}"/>
              </a:ext>
            </a:extLst>
          </p:cNvPr>
          <p:cNvSpPr txBox="1"/>
          <p:nvPr/>
        </p:nvSpPr>
        <p:spPr>
          <a:xfrm>
            <a:off x="10071194" y="845687"/>
            <a:ext cx="973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Type IV</a:t>
            </a:r>
            <a:r>
              <a:rPr lang="en-JP" baseline="-25000" dirty="0"/>
              <a:t>V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281C1B5-C14C-6FC4-3D44-E9714AE76DE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6115" y="4401940"/>
            <a:ext cx="2427308" cy="21082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05781D-D3EC-3F5A-4949-0681A8CFAFD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80485" y="4401940"/>
            <a:ext cx="2437777" cy="21082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D76203D-B77C-D7A8-A46B-294E3EAF3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13740" y="4401940"/>
            <a:ext cx="2422018" cy="210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>
            <a:extLst>
              <a:ext uri="{FF2B5EF4-FFF2-40B4-BE49-F238E27FC236}">
                <a16:creationId xmlns:a16="http://schemas.microsoft.com/office/drawing/2014/main" id="{28EC8E76-5109-DA49-4A46-02A26737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81019" y="4401941"/>
            <a:ext cx="2422019" cy="210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843DF0-93DD-ADF4-316E-46D3123C2C2F}"/>
              </a:ext>
            </a:extLst>
          </p:cNvPr>
          <p:cNvSpPr txBox="1"/>
          <p:nvPr/>
        </p:nvSpPr>
        <p:spPr>
          <a:xfrm>
            <a:off x="1385716" y="3997720"/>
            <a:ext cx="808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Type II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1261BA-1B7E-C513-DBCA-E34B73BA49B0}"/>
              </a:ext>
            </a:extLst>
          </p:cNvPr>
          <p:cNvSpPr txBox="1"/>
          <p:nvPr/>
        </p:nvSpPr>
        <p:spPr>
          <a:xfrm>
            <a:off x="7202222" y="3995367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IV</a:t>
            </a:r>
            <a:r>
              <a:rPr lang="en-JP" baseline="-25000" dirty="0"/>
              <a:t>H </a:t>
            </a:r>
            <a:r>
              <a:rPr lang="en-JP" dirty="0"/>
              <a:t>or 鋸IV</a:t>
            </a:r>
            <a:r>
              <a:rPr lang="en-JP" baseline="-25000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B18F91-B18D-62A8-76F7-73514B388BA2}"/>
              </a:ext>
            </a:extLst>
          </p:cNvPr>
          <p:cNvSpPr txBox="1"/>
          <p:nvPr/>
        </p:nvSpPr>
        <p:spPr>
          <a:xfrm>
            <a:off x="4223715" y="399222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III</a:t>
            </a:r>
            <a:r>
              <a:rPr lang="en-JP" baseline="-25000" dirty="0"/>
              <a:t>H </a:t>
            </a:r>
            <a:r>
              <a:rPr lang="en-JP" dirty="0"/>
              <a:t>or II-L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29CBD4B-EA73-730B-4A38-5F1DD90880B9}"/>
              </a:ext>
            </a:extLst>
          </p:cNvPr>
          <p:cNvSpPr txBox="1"/>
          <p:nvPr/>
        </p:nvSpPr>
        <p:spPr>
          <a:xfrm>
            <a:off x="10081392" y="4025093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IV</a:t>
            </a:r>
            <a:r>
              <a:rPr lang="en-JP" baseline="-25000" dirty="0"/>
              <a:t>H </a:t>
            </a:r>
            <a:r>
              <a:rPr lang="en-JP" dirty="0"/>
              <a:t>or 鋸IV</a:t>
            </a:r>
            <a:r>
              <a:rPr lang="en-JP" baseline="-25000" dirty="0"/>
              <a:t>V</a:t>
            </a: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0AF7CEA0-A172-EA9C-4EB9-954E94FF87D9}"/>
              </a:ext>
            </a:extLst>
          </p:cNvPr>
          <p:cNvSpPr/>
          <p:nvPr/>
        </p:nvSpPr>
        <p:spPr>
          <a:xfrm>
            <a:off x="1711471" y="3388755"/>
            <a:ext cx="350044" cy="58578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A8A0F096-E290-8C5B-E316-64380AF2FEEC}"/>
              </a:ext>
            </a:extLst>
          </p:cNvPr>
          <p:cNvSpPr/>
          <p:nvPr/>
        </p:nvSpPr>
        <p:spPr>
          <a:xfrm>
            <a:off x="4566782" y="3416022"/>
            <a:ext cx="350044" cy="58578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FC9B4FFA-AA96-13B2-F7F7-5ACDB8627EE8}"/>
              </a:ext>
            </a:extLst>
          </p:cNvPr>
          <p:cNvSpPr/>
          <p:nvPr/>
        </p:nvSpPr>
        <p:spPr>
          <a:xfrm>
            <a:off x="7552389" y="3416022"/>
            <a:ext cx="350044" cy="58578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1" name="Down Arrow 30">
            <a:extLst>
              <a:ext uri="{FF2B5EF4-FFF2-40B4-BE49-F238E27FC236}">
                <a16:creationId xmlns:a16="http://schemas.microsoft.com/office/drawing/2014/main" id="{DBBBD40E-D247-B1EE-C6A0-DDFADDDEA516}"/>
              </a:ext>
            </a:extLst>
          </p:cNvPr>
          <p:cNvSpPr/>
          <p:nvPr/>
        </p:nvSpPr>
        <p:spPr>
          <a:xfrm>
            <a:off x="10504070" y="3450803"/>
            <a:ext cx="350044" cy="585787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2986FE2C-7975-187D-D48E-E0CCAA927BD0}"/>
              </a:ext>
            </a:extLst>
          </p:cNvPr>
          <p:cNvSpPr/>
          <p:nvPr/>
        </p:nvSpPr>
        <p:spPr>
          <a:xfrm rot="16200000">
            <a:off x="3086053" y="2201650"/>
            <a:ext cx="350044" cy="35014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F03D24DC-D1D3-D64A-7EE8-5D4124864219}"/>
              </a:ext>
            </a:extLst>
          </p:cNvPr>
          <p:cNvSpPr/>
          <p:nvPr/>
        </p:nvSpPr>
        <p:spPr>
          <a:xfrm rot="16200000">
            <a:off x="6010349" y="2201651"/>
            <a:ext cx="350044" cy="35014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49FA453A-946D-B05F-EB40-1A1A6DDF9F6C}"/>
              </a:ext>
            </a:extLst>
          </p:cNvPr>
          <p:cNvSpPr/>
          <p:nvPr/>
        </p:nvSpPr>
        <p:spPr>
          <a:xfrm rot="16200000">
            <a:off x="8959450" y="2201650"/>
            <a:ext cx="350044" cy="35014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056CD5-0D2A-54CC-6349-217BBBF09499}"/>
              </a:ext>
            </a:extLst>
          </p:cNvPr>
          <p:cNvSpPr txBox="1"/>
          <p:nvPr/>
        </p:nvSpPr>
        <p:spPr>
          <a:xfrm>
            <a:off x="3170001" y="109606"/>
            <a:ext cx="56805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200" dirty="0"/>
              <a:t>“鋸歯状”Pit patternを整理する</a:t>
            </a:r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44B78DDD-B389-B635-7016-CDB85611CABC}"/>
              </a:ext>
            </a:extLst>
          </p:cNvPr>
          <p:cNvSpPr/>
          <p:nvPr/>
        </p:nvSpPr>
        <p:spPr>
          <a:xfrm rot="16200000">
            <a:off x="3086054" y="5253415"/>
            <a:ext cx="350044" cy="35014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B721AB54-4AB2-F29C-2C0C-CAD79CB03913}"/>
              </a:ext>
            </a:extLst>
          </p:cNvPr>
          <p:cNvSpPr/>
          <p:nvPr/>
        </p:nvSpPr>
        <p:spPr>
          <a:xfrm rot="16200000">
            <a:off x="6010350" y="5253416"/>
            <a:ext cx="350044" cy="35014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4374ABDB-4B6B-DC4B-DFF1-F1113D254135}"/>
              </a:ext>
            </a:extLst>
          </p:cNvPr>
          <p:cNvSpPr/>
          <p:nvPr/>
        </p:nvSpPr>
        <p:spPr>
          <a:xfrm rot="16200000">
            <a:off x="8959451" y="5253415"/>
            <a:ext cx="350044" cy="35014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40152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330</Words>
  <Application>Microsoft Macintosh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Yu Gothic UI</vt:lpstr>
      <vt:lpstr>Aptos</vt:lpstr>
      <vt:lpstr>Aptos Display</vt:lpstr>
      <vt:lpstr>Arial</vt:lpstr>
      <vt:lpstr>Open Sans</vt:lpstr>
      <vt:lpstr>Office Theme</vt:lpstr>
      <vt:lpstr>“鋸歯状”Pit patternを整理する</vt:lpstr>
      <vt:lpstr>PowerPoint Presentation</vt:lpstr>
      <vt:lpstr>PowerPoint Presentation</vt:lpstr>
      <vt:lpstr>PowerPoint Presentation</vt:lpstr>
      <vt:lpstr>PowerPoint Presentation</vt:lpstr>
      <vt:lpstr>I型 → IIIL型 → IVB型 → IVV型 の変化は 連続的に表現できる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Yasuhiko MIZUGUCHI</dc:creator>
  <cp:lastModifiedBy>水口　康彦</cp:lastModifiedBy>
  <cp:revision>40</cp:revision>
  <dcterms:created xsi:type="dcterms:W3CDTF">2024-05-26T22:40:15Z</dcterms:created>
  <dcterms:modified xsi:type="dcterms:W3CDTF">2026-05-27T04:50:36Z</dcterms:modified>
</cp:coreProperties>
</file>